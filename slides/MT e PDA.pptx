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A95697-E797-437D-9B89-7A38E0B0E028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08EFE5-CFD4-4F3B-A251-D9CF7EFFCF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904D84-8E1C-4C6A-8970-2CA2D2B6D5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94C500-F289-42C3-9645-3E7FB99716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F75ACC-3BF1-4B48-9998-35E5BEBB28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AC484E-C927-4456-B7FF-1340091600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0B4431-416C-4D77-9553-A2BD459F15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65EE43-95AA-418F-B285-937126DF1A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8860CF-5387-47DA-BB73-C2A02FAEFE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BEFD5D-7FDE-4F52-B06B-0576DA509E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944DBC-80FC-4D48-85B6-2A478EF775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DA7D42-11F9-45D8-BB2C-81766FD355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ED9A23-B6AB-4F50-94BF-BB8D36C4F1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3473BB-B5C4-46DF-A3FD-8D8E6B7963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871B5D-0C84-4559-9CB5-73C4019F18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718A57-660F-4FEB-9C81-AB57AAF63F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7680960" y="365760"/>
            <a:ext cx="1096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&lt;/&gt;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10515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TEORIA DA COMPUTABILIDADE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1463040"/>
            <a:ext cx="79549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Máquinas Universais: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22D3EE"/>
                </a:solidFill>
                <a:effectLst/>
                <a:uFillTx/>
                <a:latin typeface="Trebuchet MS"/>
                <a:ea typeface="Trebuchet MS"/>
              </a:rPr>
              <a:t>Autômato de Pilha </a:t>
            </a:r>
            <a:r>
              <a:rPr lang="en-US" sz="3800" b="1" u="none" strike="noStrike">
                <a:solidFill>
                  <a:srgbClr val="E2E8F0"/>
                </a:solidFill>
                <a:effectLst/>
                <a:uFillTx/>
                <a:latin typeface="Trebuchet MS"/>
                <a:ea typeface="Trebuchet MS"/>
              </a:rPr>
              <a:t>&amp; </a:t>
            </a:r>
            <a:r>
              <a:rPr lang="en-US" sz="3800" b="1" u="none" strike="noStrike">
                <a:solidFill>
                  <a:srgbClr val="A78BFA"/>
                </a:solidFill>
                <a:effectLst/>
                <a:uFillTx/>
                <a:latin typeface="Trebuchet MS"/>
                <a:ea typeface="Trebuchet MS"/>
              </a:rPr>
              <a:t>Máquina de Turing Multifita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85800" y="3200400"/>
            <a:ext cx="7954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PDA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onsolas"/>
              </a:rPr>
              <a:t>validador de tags aninhadas  &lt;p&gt; &lt;h1&gt; &lt;h2&gt;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85800" y="3566160"/>
            <a:ext cx="7954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MT 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onsolas"/>
              </a:rPr>
              <a:t>busca de padrão (string matching) em 2 fitas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85800" y="420624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CESUPA · Turma CC5NA · Prof. Daniel Leal Souza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85800" y="449892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Felipe de Freitas · Benjamin Suzuki · Ryan Cavalcanti · Lucas Mesquita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ROTEIRO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 que vamos apresentar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02920" y="1554480"/>
            <a:ext cx="4114440" cy="123408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85800" y="17190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554480" y="17557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Contexto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554480" y="21214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Máquinas universais e a hipótese de Church-Turing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4846320" y="1554480"/>
            <a:ext cx="4114440" cy="123408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5029200" y="17190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5897880" y="17557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Autômato de Pilha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5897880" y="21214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Validar tags aninhadas — linguagem livre de contexto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502920" y="3017520"/>
            <a:ext cx="4114440" cy="123408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85800" y="318204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1554480" y="32187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MT Multifita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1554480" y="358452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Busca de padrão em duas fitas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4846320" y="3017520"/>
            <a:ext cx="4114440" cy="123408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5029200" y="318204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5897880" y="32187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Análise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5897880" y="358452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Comparação, limites e verificação dos testes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CONTEXTO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Onde nossos modelos se encaixam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02920" y="141732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Hipótese de Church-Turing: tudo que é "computável" pode ser resolvido por uma Máquina de Turing. Vários modelos equivalentes surgiram (Post, Kleene, λ-cálculo). A hierarquia de Chomsky organiza as linguagens por poder de reconhecimento: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02920" y="2468880"/>
            <a:ext cx="8229240" cy="548280"/>
          </a:xfrm>
          <a:prstGeom prst="roundRect">
            <a:avLst>
              <a:gd name="adj" fmla="val 13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685800" y="251460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Trebuchet MS"/>
                <a:ea typeface="Trebuchet MS"/>
              </a:rPr>
              <a:t>Regular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3429000" y="25146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Autômato finito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6492240" y="251460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— sem memória auxiliar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502920" y="3090600"/>
            <a:ext cx="8229240" cy="54828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685800" y="31363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D3EE"/>
                </a:solidFill>
                <a:effectLst/>
                <a:uFillTx/>
                <a:latin typeface="Trebuchet MS"/>
                <a:ea typeface="Trebuchet MS"/>
              </a:rPr>
              <a:t>Livre de Contexto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3429000" y="31363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Autômato de Pilha (PDA)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6492240" y="313632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◄ Modelo 1: tags aninhadas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502920" y="3712320"/>
            <a:ext cx="8229240" cy="548280"/>
          </a:xfrm>
          <a:prstGeom prst="roundRect">
            <a:avLst>
              <a:gd name="adj" fmla="val 13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685800" y="375804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Trebuchet MS"/>
                <a:ea typeface="Trebuchet MS"/>
              </a:rPr>
              <a:t>Sensível ao Contexto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3429000" y="375804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Autômato linearmente limitado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6492240" y="375804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5"/>
          <p:cNvSpPr/>
          <p:nvPr/>
        </p:nvSpPr>
        <p:spPr>
          <a:xfrm>
            <a:off x="502920" y="4334400"/>
            <a:ext cx="8229240" cy="54828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685800" y="43801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78BFA"/>
                </a:solidFill>
                <a:effectLst/>
                <a:uFillTx/>
                <a:latin typeface="Trebuchet MS"/>
                <a:ea typeface="Trebuchet MS"/>
              </a:rPr>
              <a:t>Recursivamente enumerável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3429000" y="438012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Máquina de Turing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6492240" y="438012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◄ Modelo 2: busca de padrão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9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MODELO 1 · PDA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2D3EE"/>
                </a:solidFill>
                <a:effectLst/>
                <a:uFillTx/>
                <a:latin typeface="Trebuchet MS"/>
                <a:ea typeface="Trebuchet MS"/>
              </a:rPr>
              <a:t>Autômato de Pilha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502920" y="1417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Um autômato finito equipado com uma PILHA (LIFO). A pilha dá memória ilimitada em profundidade — é o que permite controlar aninhamento, algo impossível para um autômato finito.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502920" y="2286000"/>
            <a:ext cx="2605680" cy="191988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685800" y="242316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685800" y="29718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Controle finito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685800" y="338328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Conjunto de estados que lê a entrada símbolo a símbolo.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3291840" y="2286000"/>
            <a:ext cx="2605680" cy="191988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3474720" y="242316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3474720" y="29718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Pilha (LIFO)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3474720" y="338328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Empilha e desempilha um símbolo do topo a cada transição.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6080760" y="2286000"/>
            <a:ext cx="2605680" cy="191988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6263640" y="242316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pt-B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6263640" y="29718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Aceitação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6263640" y="338328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Por estado final, com a pilha de volta ao fundo Z.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MODELO 1 · PDA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Problema: validar tags aninhadas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02920" y="1371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Reconhecer documentos com as tags &lt;p&gt;, &lt;h1&gt;, &lt;h2&gt; corretamente aninhadas — cada abertura fecha na ordem certa (a última aberta é a primeira a fechar).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502920" y="2148840"/>
            <a:ext cx="4068720" cy="2285640"/>
          </a:xfrm>
          <a:prstGeom prst="roundRect">
            <a:avLst>
              <a:gd name="adj" fmla="val 3200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685800" y="2286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ACEITAS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685800" y="2697480"/>
            <a:ext cx="3702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&lt;p&gt;&lt;/p&gt;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&lt;p&gt;&lt;h1&gt;&lt;/h1&gt;&lt;/p&gt;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&lt;h1&gt;&lt;p&gt;&lt;/p&gt;&lt;p&gt;&lt;/p&gt;&lt;/h1&gt;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4709160" y="2148840"/>
            <a:ext cx="4023000" cy="2285640"/>
          </a:xfrm>
          <a:prstGeom prst="roundRect">
            <a:avLst>
              <a:gd name="adj" fmla="val 3200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4892040" y="22860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REJEITADAS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4892040" y="2697480"/>
            <a:ext cx="3702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&lt;p&gt;&lt;/h1&gt;      (tag errada)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&lt;p&gt;&lt;h1&gt;&lt;/p&gt;&lt;/h1&gt;  (cruzada)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&lt;p&gt;          (não fechou)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502920" y="46450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22D3EE"/>
                </a:solidFill>
                <a:effectLst/>
                <a:uFillTx/>
                <a:latin typeface="Calibri"/>
                <a:ea typeface="Calibri"/>
              </a:rPr>
              <a:t>Livre de Contexto: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só a pilha controla a profundidade ilimitada do aninhamento.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MODELO 1 · PDA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Definição formal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502920" y="1371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M = (Q, Σ, Γ, δ, q</a:t>
            </a:r>
            <a:r>
              <a:rPr lang="en-US" sz="2000" b="1" u="none" strike="noStrike" baseline="-40000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</a:t>
            </a:r>
            <a:r>
              <a:rPr lang="en-US" sz="20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, Z</a:t>
            </a:r>
            <a:r>
              <a:rPr lang="en-US" sz="2000" b="1" u="none" strike="noStrike" baseline="-40000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</a:t>
            </a:r>
            <a:r>
              <a:rPr lang="en-US" sz="20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, F)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02920" y="1828800"/>
            <a:ext cx="8229240" cy="47520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685800" y="1828800"/>
            <a:ext cx="1554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Q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2286000" y="1828800"/>
            <a:ext cx="6309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9 estados:  q_start, q0, q_lt, q_oh, q_ogt, q_c0, q_ch, q_cgt, q_accept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502920" y="2377440"/>
            <a:ext cx="8229240" cy="47520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685800" y="2377440"/>
            <a:ext cx="1554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Σ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2286000" y="2377440"/>
            <a:ext cx="6309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{ &lt; , &gt; , / , p , h , 1 , 2 }   (entrada)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502920" y="2926080"/>
            <a:ext cx="8229240" cy="47520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685800" y="2926080"/>
            <a:ext cx="1554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Γ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2286000" y="2926080"/>
            <a:ext cx="6309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{ Z , P , A , B }   —  P=&lt;p&gt;, A=&lt;h1&gt;, B=&lt;h2&gt;, Z=fundo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2"/>
          <p:cNvSpPr/>
          <p:nvPr/>
        </p:nvSpPr>
        <p:spPr>
          <a:xfrm>
            <a:off x="502920" y="3474720"/>
            <a:ext cx="8229240" cy="47520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685800" y="3474720"/>
            <a:ext cx="1554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q0 / Z0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2286000" y="3474720"/>
            <a:ext cx="6309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q_start  /  Z   (pilha inicia com o fundo Z)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502920" y="4023360"/>
            <a:ext cx="8229240" cy="47520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685800" y="4023360"/>
            <a:ext cx="1554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F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2286000" y="4023360"/>
            <a:ext cx="6309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{ q_accept }   —  aceitação por estado final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502920" y="468180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Mais de 8 estados: a leitura do nome de cada tag (multi-caractere) exige controle finito.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06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MODELO 1 · PDA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Função de transição δ (essência)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502920" y="1371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Empilha ao abrir; só desempilha se o fechamento casar com o topo — é assim que o aninhamento é verificado.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Table 0"/>
          <p:cNvGraphicFramePr/>
          <p:nvPr/>
        </p:nvGraphicFramePr>
        <p:xfrm>
          <a:off x="502920" y="1965960"/>
          <a:ext cx="8229240" cy="23040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737360"/>
                <a:gridCol w="1828800"/>
                <a:gridCol w="2011680"/>
              </a:tblGrid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Estado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Lê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Topo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→ Estado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Pilha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2D3EE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q0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&lt;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—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q_lt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mantém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q_lt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qualquer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q_ogt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empilha P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q_oh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qualquer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q_ogt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empilha 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q_c0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q_cgt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desempilha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q_ch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q_cgt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desempilha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q0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ε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Z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q_accept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aceita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7" name="Text 3"/>
          <p:cNvSpPr/>
          <p:nvPr/>
        </p:nvSpPr>
        <p:spPr>
          <a:xfrm>
            <a:off x="502920" y="46177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 o fechamento não casa com o topo (ex.: &lt;/h1&gt; com &lt;p&gt; aberto), não há transição → rejeita.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07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MODELO 1 · PDA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Execução:  "&lt;p&gt;&lt;h1&gt;&lt;/h1&gt;&lt;/p&gt;"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" name="Table 0"/>
          <p:cNvGraphicFramePr/>
          <p:nvPr/>
        </p:nvGraphicFramePr>
        <p:xfrm>
          <a:off x="502920" y="1463040"/>
          <a:ext cx="822924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1371600"/>
                <a:gridCol w="2468880"/>
              </a:tblGrid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Estado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Entrada restante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Pilha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Ação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0B3B45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q_lt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p&gt;&lt;h1&gt;&lt;/h1&gt;&lt;/p&gt;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Z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lê &lt;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q_ogt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&gt;&lt;h1&gt;&lt;/h1&gt;&lt;/p&gt;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 Z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empilha P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q_oh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1&gt;&lt;/h1&gt;&lt;/p&gt;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 Z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lê h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q_ogt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&gt;&lt;/h1&gt;&lt;/p&gt;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 P Z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empilha A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q_cgt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&gt;&lt;/p&gt;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 Z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&lt;/h1&gt; desempilha A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q_cgt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&gt;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Z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&lt;/p&gt; desempilha P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q_accept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ε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Z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0B3B2E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ACEITA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0B3B2E"/>
                    </a:solidFill>
                  </a:tcPr>
                </a:tc>
              </a:tr>
            </a:tbl>
          </a:graphicData>
        </a:graphic>
      </p:graphicFrame>
      <p:sp>
        <p:nvSpPr>
          <p:cNvPr id="112" name="Text 2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MODELO 1 · PDA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Verificação automática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502920" y="164592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502920" y="187452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22D3EE"/>
                </a:solidFill>
                <a:effectLst/>
                <a:uFillTx/>
                <a:latin typeface="Trebuchet MS"/>
                <a:ea typeface="Trebuchet MS"/>
              </a:rPr>
              <a:t>9</a:t>
            </a:r>
            <a:endParaRPr lang="pt-BR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02920" y="274320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estados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3291840" y="164592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3291840" y="187452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22D3EE"/>
                </a:solidFill>
                <a:effectLst/>
                <a:uFillTx/>
                <a:latin typeface="Trebuchet MS"/>
                <a:ea typeface="Trebuchet MS"/>
              </a:rPr>
              <a:t>41</a:t>
            </a:r>
            <a:endParaRPr lang="pt-BR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3291840" y="274320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transições (.jff)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6080760" y="164592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6080760" y="187452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34D399"/>
                </a:solidFill>
                <a:effectLst/>
                <a:uFillTx/>
                <a:latin typeface="Trebuchet MS"/>
                <a:ea typeface="Trebuchet MS"/>
              </a:rPr>
              <a:t>55.987</a:t>
            </a:r>
            <a:endParaRPr lang="pt-BR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6080760" y="274320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cadeias testadas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502920" y="3657600"/>
            <a:ext cx="8229240" cy="95976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731520" y="384048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4D399"/>
                </a:solidFill>
                <a:effectLst/>
                <a:uFillTx/>
                <a:latin typeface="Calibri"/>
                <a:ea typeface="Calibri"/>
              </a:rPr>
              <a:t>100% correto  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— conferido contra um validador de pilha independente, em TODAS as combinações de 0 a 6 tags do vocabulário (55.987 cadeias). Inclui casos aceitos, fechamentos errados, tags cruzadas e tags não fechadas.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09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MODELO 2 · MT MULTIFITA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A78BFA"/>
                </a:solidFill>
                <a:effectLst/>
                <a:uFillTx/>
                <a:latin typeface="Trebuchet MS"/>
                <a:ea typeface="Trebuchet MS"/>
              </a:rPr>
              <a:t>Máquina de Turing com Múltiplas Fitas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02920" y="141732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Uma MT com k fitas, cada uma com sua própria cabeça de leitura/escrita que se move de forma independente. Em cada passo, a máquina lê as k células sob as cabeças e decide o que escrever e para onde mover cada uma.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02920" y="2377440"/>
            <a:ext cx="4068720" cy="191988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685800" y="2514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78BFA"/>
                </a:solidFill>
                <a:effectLst/>
                <a:uFillTx/>
                <a:latin typeface="Trebuchet MS"/>
                <a:ea typeface="Trebuchet MS"/>
              </a:rPr>
              <a:t>Vantagem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685800" y="2926080"/>
            <a:ext cx="3702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Organiza a computação: cada dado fica em sua fita, sem precisar intercalar marcações numa fita só.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4709160" y="2377440"/>
            <a:ext cx="4023000" cy="191988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4892040" y="2514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78BFA"/>
                </a:solidFill>
                <a:effectLst/>
                <a:uFillTx/>
                <a:latin typeface="Trebuchet MS"/>
                <a:ea typeface="Trebuchet MS"/>
              </a:rPr>
              <a:t>Poder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4892040" y="2926080"/>
            <a:ext cx="3657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Equivalente à MT de fita única — não computa mais coisas, apenas de forma mais eficiente/clara (Church-Turing).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10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MODELO 2 · MT MULTIFITA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Problema: busca de padrão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02920" y="1371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Decidir se o padrão P ocorre como subcadeia do texto T (alfabeto {a, b}). Usamos 2 fitas: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502920" y="1965960"/>
            <a:ext cx="4068720" cy="137124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685800" y="2148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Fita 1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onsolas"/>
              </a:rPr>
              <a:t>TEXTO  T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25603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ex.:  a a b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4709160" y="1965960"/>
            <a:ext cx="4023000" cy="137124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4892040" y="2148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Fita 2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onsolas"/>
              </a:rPr>
              <a:t>PADRÃO  P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4892040" y="25603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ex.:  a b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502920" y="3611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Ideia: 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compara P contra T a partir de cada posição inicial (âncora). Ao falhar, rebobina as duas cabeças em sincronia e avança a âncora em uma posição.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502920" y="43891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"ab" ocorre em "aab" (posição 1)  →  ACEITA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11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MODELO 2 · MT MULTIFITA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Definição formal e funcionamento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502920" y="13258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M = (Q, Σ, Γ, δ, q</a:t>
            </a:r>
            <a:r>
              <a:rPr lang="en-US" sz="1800" b="1" u="none" strike="noStrike" baseline="-40000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0</a:t>
            </a:r>
            <a:r>
              <a:rPr lang="en-US" sz="18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, B, F)</a:t>
            </a:r>
            <a:r>
              <a:rPr lang="en-US" sz="18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     k = 2 fitas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502920" y="1828800"/>
            <a:ext cx="8229240" cy="51156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685800" y="1828800"/>
            <a:ext cx="12798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Q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2011680" y="1828800"/>
            <a:ext cx="65833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9 estados (q_read, q_have_a/b, q_adv, q_reset, q_shift1/2, q_accept, q_reject)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502920" y="2414160"/>
            <a:ext cx="8229240" cy="51156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685800" y="2414160"/>
            <a:ext cx="12798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Σ / Γ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2011680" y="2414160"/>
            <a:ext cx="65833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{ a , b }   /   { a , b , _ }   (_ = branco)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502920" y="2999160"/>
            <a:ext cx="8229240" cy="51156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685800" y="2999160"/>
            <a:ext cx="12798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Fitas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2011680" y="2999160"/>
            <a:ext cx="65833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Fita 1 = texto T  ·  Fita 2 = padrão P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2"/>
          <p:cNvSpPr/>
          <p:nvPr/>
        </p:nvSpPr>
        <p:spPr>
          <a:xfrm>
            <a:off x="502920" y="3657600"/>
            <a:ext cx="8229240" cy="959760"/>
          </a:xfrm>
          <a:prstGeom prst="roundRect">
            <a:avLst>
              <a:gd name="adj" fmla="val 7619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731520" y="382212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Ciclo:  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lê P para o controle (q_have_a/b) → compara com T → </a:t>
            </a:r>
            <a:r>
              <a:rPr lang="en-US" sz="1300" b="1" u="none" strike="noStrike">
                <a:solidFill>
                  <a:srgbClr val="34D399"/>
                </a:solidFill>
                <a:effectLst/>
                <a:uFillTx/>
                <a:latin typeface="Calibri"/>
                <a:ea typeface="Calibri"/>
              </a:rPr>
              <a:t>casa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 avança (q_adv)  /  </a:t>
            </a:r>
            <a:r>
              <a:rPr lang="en-US" sz="1300" b="1" u="none" strike="noStrike">
                <a:solidFill>
                  <a:srgbClr val="F87171"/>
                </a:solidFill>
                <a:effectLst/>
                <a:uFillTx/>
                <a:latin typeface="Calibri"/>
                <a:ea typeface="Calibri"/>
              </a:rPr>
              <a:t>falha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 rebobina (q_reset → q_shift1 → q_shift2) e avança a âncora.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12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A78BFA"/>
                </a:solidFill>
                <a:effectLst/>
                <a:uFillTx/>
                <a:latin typeface="Consolas"/>
                <a:ea typeface="Consolas"/>
              </a:rPr>
              <a:t>MODELO 2 · MT MULTIFITA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Execução:  T="aab"  P="ab"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6" name="Table 0"/>
          <p:cNvGraphicFramePr/>
          <p:nvPr/>
        </p:nvGraphicFramePr>
        <p:xfrm>
          <a:off x="502920" y="1572840"/>
          <a:ext cx="5348880" cy="1974600"/>
        </p:xfrm>
        <a:graphic>
          <a:graphicData uri="http://schemas.openxmlformats.org/drawingml/2006/table">
            <a:tbl>
              <a:tblPr/>
              <a:tblGrid>
                <a:gridCol w="1234440"/>
                <a:gridCol w="1417320"/>
                <a:gridCol w="1371600"/>
                <a:gridCol w="1325880"/>
              </a:tblGrid>
              <a:tr h="329040"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A78BF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Estado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A78BF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Fita 1 (texto)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A78BF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Fita 2 (padrão)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A78BFA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Comentário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E1065"/>
                    </a:solidFill>
                  </a:tcPr>
                </a:tc>
              </a:tr>
              <a:tr h="329040"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q_have_a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[a]ab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[a]b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casa 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9040"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q_have_b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a[a]b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a[b]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falha b!=a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9040"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q_reset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rebobina &lt;-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rebobina &lt;-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volta ao inicio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9040"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q_shift2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[a]ab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[a]b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avanca ancora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29040"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q_accept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aab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ab (fim)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7800" tIns="25200" rIns="378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ACEITA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25200" marB="252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67" name="Shape 2"/>
          <p:cNvSpPr/>
          <p:nvPr/>
        </p:nvSpPr>
        <p:spPr>
          <a:xfrm>
            <a:off x="6080760" y="157284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6080760" y="159120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A78BFA"/>
                </a:solidFill>
                <a:effectLst/>
                <a:uFillTx/>
                <a:latin typeface="Trebuchet MS"/>
                <a:ea typeface="Trebuchet MS"/>
              </a:rPr>
              <a:t>9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6080760" y="21578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estados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5"/>
          <p:cNvSpPr/>
          <p:nvPr/>
        </p:nvSpPr>
        <p:spPr>
          <a:xfrm>
            <a:off x="6080760" y="2615040"/>
            <a:ext cx="2651400" cy="914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6080760" y="265176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4D399"/>
                </a:solidFill>
                <a:effectLst/>
                <a:uFillTx/>
                <a:latin typeface="Trebuchet MS"/>
                <a:ea typeface="Trebuchet MS"/>
              </a:rPr>
              <a:t>7.905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6080760" y="32187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casos corretos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502920" y="3886200"/>
            <a:ext cx="8229240" cy="86832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731520" y="4005000"/>
            <a:ext cx="7772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BBF24"/>
                </a:solidFill>
                <a:effectLst/>
                <a:uFillTx/>
                <a:latin typeface="Calibri"/>
                <a:ea typeface="Calibri"/>
              </a:rPr>
              <a:t>Limitação do JFLAP:  </a:t>
            </a:r>
            <a:r>
              <a:rPr lang="en-US" sz="115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 fita do JFLAP é semi-infinita (limitada à esquerda); a rebobinagem passa da posição 0, então lá os casos com retrocesso travam. Pelo teorema de equivalência (fita bi-infinita = semi-infinita) não é erro do modelo — o simulador em Python implementa o padrão e roda esses casos.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13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502920" y="3016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BBF24"/>
                </a:solidFill>
                <a:effectLst/>
                <a:uFillTx/>
                <a:latin typeface="Consolas"/>
                <a:ea typeface="Consolas"/>
              </a:rPr>
              <a:t>ANÁLISE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02920" y="56700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PDA  x  Máquina de Turing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8" name="Table 0"/>
          <p:cNvGraphicFramePr/>
          <p:nvPr/>
        </p:nvGraphicFramePr>
        <p:xfrm>
          <a:off x="502920" y="1508760"/>
          <a:ext cx="8229240" cy="3017160"/>
        </p:xfrm>
        <a:graphic>
          <a:graphicData uri="http://schemas.openxmlformats.org/drawingml/2006/table">
            <a:tbl>
              <a:tblPr/>
              <a:tblGrid>
                <a:gridCol w="1691640"/>
                <a:gridCol w="3291840"/>
                <a:gridCol w="3246120"/>
              </a:tblGrid>
              <a:tr h="603360">
                <a:tc>
                  <a:txBody>
                    <a:bodyPr lIns="75960" tIns="37800" rIns="75960" bIns="37800" anchor="ctr">
                      <a:noAutofit/>
                    </a:bodyPr>
                    <a:p>
                      <a:endParaRPr lang="en-US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Autômato de Pilha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A78BFA"/>
                          </a:solidFill>
                          <a:effectLst/>
                          <a:uFillTx/>
                          <a:latin typeface="Trebuchet MS"/>
                          <a:ea typeface="Trebuchet MS"/>
                        </a:rPr>
                        <a:t>MT Multifita</a:t>
                      </a:r>
                      <a:endParaRPr lang="pt-B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72033"/>
                    </a:solidFill>
                  </a:tcPr>
                </a:tc>
              </a:tr>
              <a:tr h="603360"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Memória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Pilha (LIFO)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Fitas infinitas + cabeças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03360"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Reconhece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Linguagens Livres de Contexto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Recursivamente enumeráveis (universal)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03360"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Nosso problema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Tags aninhadas &lt;p&gt;&lt;h1&gt;&lt;h2&gt;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Busca de padrão em {a,b}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03360"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Limite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 conta além da pilha (a^n b^n c^n)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75960" tIns="37800" rIns="7596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Indecidibilidade (problema da parada)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37800" marB="3780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79" name="Text 2"/>
          <p:cNvSpPr/>
          <p:nvPr/>
        </p:nvSpPr>
        <p:spPr>
          <a:xfrm>
            <a:off x="502920" y="46177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Ambos resolvem problemas distintos: um valida estrutura aninhada, o outro busca uma subcadeia.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14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640080" y="640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CONCLUSÃO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640080" y="100584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Dois modelos, dois problemas próprios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640080" y="1828800"/>
            <a:ext cx="7863480" cy="77688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868680" y="2075760"/>
            <a:ext cx="273960" cy="27396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1325880" y="193860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D3EE"/>
                </a:solidFill>
                <a:effectLst/>
                <a:uFillTx/>
                <a:latin typeface="Trebuchet MS"/>
                <a:ea typeface="Trebuchet MS"/>
              </a:rPr>
              <a:t>PDA — tags aninhadas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4206240" y="193860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Pilha controla o aninhamento. 9 estados, 100% correto em 55.987 cadeias.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640080" y="2724840"/>
            <a:ext cx="7863480" cy="77688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868680" y="2971800"/>
            <a:ext cx="273960" cy="27396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1325880" y="28346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Trebuchet MS"/>
                <a:ea typeface="Trebuchet MS"/>
              </a:rPr>
              <a:t>MT — busca de padrão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4206240" y="28346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Duas fitas comparam texto e padrão. 9 estados, 100% em 7.905 casos.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640080" y="3620880"/>
            <a:ext cx="7863480" cy="77688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868680" y="3867840"/>
            <a:ext cx="273960" cy="27396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1325880" y="37306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4D399"/>
                </a:solidFill>
                <a:effectLst/>
                <a:uFillTx/>
                <a:latin typeface="Trebuchet MS"/>
                <a:ea typeface="Trebuchet MS"/>
              </a:rPr>
              <a:t>Verificação e honestidade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4206240" y="373068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Testes automáticos exaustivos; limitação do JFLAP documentada no README.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640080" y="45720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2026-06-11T23:46:38Z</dcterms:created>
  <dc:creator>Equipe CC5NA</dc:creator>
  <dc:description/>
  <dc:language>pt-BR</dc:language>
  <cp:lastModifiedBy/>
  <dcterms:modified xsi:type="dcterms:W3CDTF">2026-06-11T20:53:44Z</dcterms:modified>
  <cp:revision>2</cp:revision>
  <dc:subject>PptxGenJS Presentation</dc:subject>
  <dc:title>AV2 - Teoria da Computabilidade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